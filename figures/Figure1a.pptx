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84" r:id="rId2"/>
  </p:sldIdLst>
  <p:sldSz cx="12599988" cy="8999538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902"/>
    <p:restoredTop sz="94628"/>
  </p:normalViewPr>
  <p:slideViewPr>
    <p:cSldViewPr snapToGrid="0">
      <p:cViewPr varScale="1">
        <p:scale>
          <a:sx n="91" d="100"/>
          <a:sy n="91" d="100"/>
        </p:scale>
        <p:origin x="27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BE7174-C0B8-6A41-A1C1-A2663ADF84BE}" type="datetimeFigureOut">
              <a:rPr lang="en-US" smtClean="0"/>
              <a:t>5/29/25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1143000"/>
            <a:ext cx="4318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6F818-D1D6-5B46-A1AC-B9042388A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720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70000" y="1143000"/>
            <a:ext cx="43180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CE16F-0F7A-7546-8964-BB158F19AA1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094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37019-273B-368F-41E4-647F864DE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5000" y="1472843"/>
            <a:ext cx="9449991" cy="313317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A06A51-B359-CC65-8B9C-C2A679DA52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5000" y="4726842"/>
            <a:ext cx="9449991" cy="217280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8D12E-81B7-DB2B-78FE-ADBFD5936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3D479-D6A3-9241-9E3C-31000C90DCB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52FC0-9597-F454-8E36-0A70BBE3F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B1607-2D73-E234-5566-A0B081AE3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77C8F-6863-F543-87DF-3E4C77319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723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C3F8E-15F4-A201-C783-9E4498AE7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D971F-94D6-81ED-356F-6669ED4F1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7DA9C-90D3-DA8A-7C58-2BAD6D746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3D479-D6A3-9241-9E3C-31000C90DCB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AD98C-EA6E-96D2-067F-C44EF1C79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C725C-058B-63B1-9C19-B5ADDD6E3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77C8F-6863-F543-87DF-3E4C77319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363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33CD9-B10F-FBD6-8A9C-D882B198C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689" y="2243640"/>
            <a:ext cx="10867489" cy="374355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90AAD-3F34-65D1-1DC0-AE5D02286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9689" y="6022613"/>
            <a:ext cx="10867489" cy="19686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90D56-C9DA-1AAF-47B5-57B5DD2EC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3D479-D6A3-9241-9E3C-31000C90DCB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A11E5-C330-595B-CE62-5CA40A0B6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D6E41-85B4-F3C2-5B49-66EE4BF37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77C8F-6863-F543-87DF-3E4C77319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414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3ADB5-4FEC-C873-7CE6-47CA2CACE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480FF-A9A3-86E7-AAA4-550635C792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6251" y="2395716"/>
            <a:ext cx="5354995" cy="5710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BFB6F-1478-7390-C919-1AD0F8172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8744" y="2395716"/>
            <a:ext cx="5354995" cy="5710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2B5886-8ABA-E203-AFF4-3E0D80BBC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3D479-D6A3-9241-9E3C-31000C90DCB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986CCD-7DB2-CAED-2B33-B4A5187A1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CD581-0457-BBC5-A9F4-4D12B88F7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77C8F-6863-F543-87DF-3E4C77319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738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8F8E2-E746-190B-5AC9-36DADEDE0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892" y="479142"/>
            <a:ext cx="10867489" cy="17394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59E96-3F14-D211-969D-497631CCA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7895" y="2206138"/>
            <a:ext cx="5330384" cy="108119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B3A5D1-C1AB-6B83-EC63-D6737A1C4A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7895" y="3287331"/>
            <a:ext cx="5330384" cy="48351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441277-523B-5D5F-A10F-32864D5E72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78744" y="2206138"/>
            <a:ext cx="5356636" cy="108119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45D80C-CC22-6D25-6002-E215BCAAA2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78744" y="3287331"/>
            <a:ext cx="5356636" cy="48351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0DC2C5-8264-E0C4-3D5C-A969897BE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3D479-D6A3-9241-9E3C-31000C90DCB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08DB7E-3863-36FF-5080-6F09C6434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41DAF1-4D26-87F2-8DFD-CF67344FD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77C8F-6863-F543-87DF-3E4C77319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397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365C3-779E-0183-9C31-699C8FDC8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231660-9144-2326-F512-AA9C5C9FA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3D479-D6A3-9241-9E3C-31000C90DCB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520D47-7F37-F304-B33C-89AB49ABE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F5510A-9A0B-CF46-C008-75BCA8C47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77C8F-6863-F543-87DF-3E4C77319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959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86D583-7E6E-B9DB-4938-74009026B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3D479-D6A3-9241-9E3C-31000C90DCB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31769D-5498-1E6D-A55F-C27B386AA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9D688-2C0B-1F2B-BDB8-02D6B84EB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77C8F-6863-F543-87DF-3E4C77319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1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38627-399B-B20C-6675-E29C0A360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896" y="599970"/>
            <a:ext cx="4063823" cy="209989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617C6-8090-B159-F786-41C4AD7F2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6636" y="1295772"/>
            <a:ext cx="6378744" cy="639550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A47D58-5B33-3A0B-FFB4-BBD6A49C96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7896" y="2699867"/>
            <a:ext cx="4063823" cy="500182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F7985-AD51-2F82-6E3B-E8EE4885C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3D479-D6A3-9241-9E3C-31000C90DCB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B0877-C565-4B23-F9AE-3DE3D0A59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FBBBC6-EB1C-612F-E779-C1DFC5A9B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77C8F-6863-F543-87DF-3E4C77319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323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60A17-49CB-7E80-92E7-E74428C23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896" y="599970"/>
            <a:ext cx="4063823" cy="209989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DF58B1-3455-37F4-F035-84847C0462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56636" y="1295772"/>
            <a:ext cx="6378744" cy="639550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3B4D4-738C-0F98-486C-492091533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7896" y="2699867"/>
            <a:ext cx="4063823" cy="500182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7C579-EA58-8DA4-7082-F839055BE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3D479-D6A3-9241-9E3C-31000C90DCB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0F6468-8F51-9F11-6709-F129679A8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7DE428-9FCF-94E0-09FF-FE118C44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77C8F-6863-F543-87DF-3E4C77319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897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409A7-5499-73A4-33CD-20C7001CE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B32EAF-BD2B-E922-93E3-31DA0304C0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41A54-BEB8-146C-95D3-C5BEE1183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3D479-D6A3-9241-9E3C-31000C90DCB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A1FD7-3E02-D687-0932-4883C461A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8DCA7-5C93-B7F9-23BD-6D73BB310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77C8F-6863-F543-87DF-3E4C77319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615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FB2286-C8CC-1674-A5F2-03210A6F2F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16867" y="479146"/>
            <a:ext cx="2716873" cy="76266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0B3B2C-82F9-4A8C-BB49-9B957F0E2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66250" y="479146"/>
            <a:ext cx="7993117" cy="76266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FC3B8-2961-A5C1-8CA9-6A8766FB8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3D479-D6A3-9241-9E3C-31000C90DCB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67AE9-6911-FB97-9F36-D34A28D9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B0846-460E-6A19-2745-248AE40FD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77C8F-6863-F543-87DF-3E4C77319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968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AFC836-CFAE-CD77-4615-3E6612969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51" y="479142"/>
            <a:ext cx="10867489" cy="17394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C6FD2-4E00-47AF-E282-4B95E9D2E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6251" y="2395716"/>
            <a:ext cx="10867489" cy="5710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4E963-674C-F389-7D92-B3488F93DC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6250" y="8341243"/>
            <a:ext cx="2834998" cy="4791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3D479-D6A3-9241-9E3C-31000C90DCB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7C26B-CDDD-D9BF-2EFF-CCF5C70D68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73747" y="8341243"/>
            <a:ext cx="4252497" cy="4791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064D9-E47E-6C34-2751-5A0DBC4448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8744" y="8341243"/>
            <a:ext cx="2834998" cy="4791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B77C8F-6863-F543-87DF-3E4C77319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62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C325286-7319-85D4-569F-A34E3CD7709E}"/>
              </a:ext>
            </a:extLst>
          </p:cNvPr>
          <p:cNvSpPr/>
          <p:nvPr/>
        </p:nvSpPr>
        <p:spPr>
          <a:xfrm>
            <a:off x="152980" y="553930"/>
            <a:ext cx="12294027" cy="3043090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FF0ED3F-D7AE-EFE9-6349-7AD43C929027}"/>
              </a:ext>
            </a:extLst>
          </p:cNvPr>
          <p:cNvSpPr/>
          <p:nvPr/>
        </p:nvSpPr>
        <p:spPr>
          <a:xfrm>
            <a:off x="152980" y="3597028"/>
            <a:ext cx="12294027" cy="4381843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FC87979-2946-A084-105C-079214E119B5}"/>
              </a:ext>
            </a:extLst>
          </p:cNvPr>
          <p:cNvSpPr/>
          <p:nvPr/>
        </p:nvSpPr>
        <p:spPr>
          <a:xfrm>
            <a:off x="4638177" y="3211787"/>
            <a:ext cx="2133328" cy="34925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mRNA panel 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7BD120-5A60-C222-B9F6-BD81D94641F7}"/>
              </a:ext>
            </a:extLst>
          </p:cNvPr>
          <p:cNvSpPr/>
          <p:nvPr/>
        </p:nvSpPr>
        <p:spPr>
          <a:xfrm>
            <a:off x="1916086" y="6439009"/>
            <a:ext cx="1283156" cy="24105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PLSDA models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E9FEEE2-6385-8723-A1A9-E5F7AB50F476}"/>
              </a:ext>
            </a:extLst>
          </p:cNvPr>
          <p:cNvSpPr>
            <a:spLocks/>
          </p:cNvSpPr>
          <p:nvPr/>
        </p:nvSpPr>
        <p:spPr>
          <a:xfrm>
            <a:off x="5237832" y="4073838"/>
            <a:ext cx="2246643" cy="7527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Airway</a:t>
            </a:r>
            <a:r>
              <a:rPr lang="en-US" sz="14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[3, 7]</a:t>
            </a:r>
          </a:p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Endobronchial biopsies</a:t>
            </a:r>
          </a:p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GSE147878+GSE161245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F753742-9954-1F5E-A648-2C9491104002}"/>
              </a:ext>
            </a:extLst>
          </p:cNvPr>
          <p:cNvSpPr/>
          <p:nvPr/>
        </p:nvSpPr>
        <p:spPr>
          <a:xfrm>
            <a:off x="612727" y="4066214"/>
            <a:ext cx="3333293" cy="59849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Peripheral blood mononuclear cells</a:t>
            </a:r>
            <a:r>
              <a:rPr lang="en-US" sz="140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[2]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GSE19301</a:t>
            </a:r>
            <a:endParaRPr lang="en-US" sz="1400" baseline="30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434CD56-4CE8-320B-7AF0-372A35BB9160}"/>
              </a:ext>
            </a:extLst>
          </p:cNvPr>
          <p:cNvSpPr>
            <a:spLocks/>
          </p:cNvSpPr>
          <p:nvPr/>
        </p:nvSpPr>
        <p:spPr>
          <a:xfrm>
            <a:off x="8763578" y="4073159"/>
            <a:ext cx="1280160" cy="752765"/>
          </a:xfrm>
          <a:prstGeom prst="roundRect">
            <a:avLst/>
          </a:prstGeom>
          <a:solidFill>
            <a:srgbClr val="FBBFDE"/>
          </a:solidFill>
          <a:ln>
            <a:solidFill>
              <a:srgbClr val="6D00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Blood samples</a:t>
            </a:r>
            <a:r>
              <a:rPr lang="en-US" sz="14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GSE69683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6806A42-6DF6-B5FD-6E6A-A575C55791C8}"/>
              </a:ext>
            </a:extLst>
          </p:cNvPr>
          <p:cNvSpPr>
            <a:spLocks/>
          </p:cNvSpPr>
          <p:nvPr/>
        </p:nvSpPr>
        <p:spPr>
          <a:xfrm>
            <a:off x="7480768" y="4068698"/>
            <a:ext cx="1280160" cy="7527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BALF samples</a:t>
            </a:r>
            <a:r>
              <a:rPr lang="en-US" sz="14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endParaRPr lang="en-US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GSE74986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CB633EF-0437-ACD6-6C87-3E41BD2A8DD8}"/>
              </a:ext>
            </a:extLst>
          </p:cNvPr>
          <p:cNvSpPr>
            <a:spLocks/>
          </p:cNvSpPr>
          <p:nvPr/>
        </p:nvSpPr>
        <p:spPr>
          <a:xfrm>
            <a:off x="10052739" y="4071902"/>
            <a:ext cx="2157978" cy="7498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Induced-sputum samples</a:t>
            </a:r>
            <a:r>
              <a:rPr lang="en-US" sz="14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[3, 6]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GSE76262+GSE147880</a:t>
            </a:r>
          </a:p>
        </p:txBody>
      </p:sp>
      <p:sp>
        <p:nvSpPr>
          <p:cNvPr id="17" name="Left Bracket 16">
            <a:extLst>
              <a:ext uri="{FF2B5EF4-FFF2-40B4-BE49-F238E27FC236}">
                <a16:creationId xmlns:a16="http://schemas.microsoft.com/office/drawing/2014/main" id="{937E512D-724E-B927-DC85-837EAC68BDA6}"/>
              </a:ext>
            </a:extLst>
          </p:cNvPr>
          <p:cNvSpPr/>
          <p:nvPr/>
        </p:nvSpPr>
        <p:spPr>
          <a:xfrm rot="5400000">
            <a:off x="6339187" y="-1792229"/>
            <a:ext cx="118398" cy="11571315"/>
          </a:xfrm>
          <a:prstGeom prst="leftBracket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CF41E93F-33ED-62C6-1662-0184125EB5D6}"/>
              </a:ext>
            </a:extLst>
          </p:cNvPr>
          <p:cNvSpPr/>
          <p:nvPr/>
        </p:nvSpPr>
        <p:spPr>
          <a:xfrm>
            <a:off x="5555928" y="3665679"/>
            <a:ext cx="121820" cy="24000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E00888-550C-9489-A7B3-06C440571333}"/>
              </a:ext>
            </a:extLst>
          </p:cNvPr>
          <p:cNvSpPr txBox="1"/>
          <p:nvPr/>
        </p:nvSpPr>
        <p:spPr>
          <a:xfrm>
            <a:off x="514664" y="8058952"/>
            <a:ext cx="114195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US" sz="1400" dirty="0">
                <a:solidFill>
                  <a:srgbClr val="21212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PMID: 29087730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[2]</a:t>
            </a:r>
            <a:r>
              <a:rPr lang="en-US" sz="1400" dirty="0">
                <a:solidFill>
                  <a:srgbClr val="21212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PMID: 21779351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US" sz="1400" dirty="0">
                <a:solidFill>
                  <a:srgbClr val="21212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PMID: 35673765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US" sz="1400" dirty="0">
                <a:solidFill>
                  <a:srgbClr val="21212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PMID: 26628680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n-US" sz="1400" dirty="0">
                <a:solidFill>
                  <a:srgbClr val="21212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PMID: 27925796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r>
              <a:rPr lang="en-US" sz="1400" dirty="0">
                <a:solidFill>
                  <a:srgbClr val="21212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PMID: 39073027 [7] GSE161245</a:t>
            </a:r>
          </a:p>
        </p:txBody>
      </p:sp>
      <p:sp>
        <p:nvSpPr>
          <p:cNvPr id="23" name="Down Arrow 22">
            <a:extLst>
              <a:ext uri="{FF2B5EF4-FFF2-40B4-BE49-F238E27FC236}">
                <a16:creationId xmlns:a16="http://schemas.microsoft.com/office/drawing/2014/main" id="{CEFD53EE-B297-319D-AD45-440352EAED0B}"/>
              </a:ext>
            </a:extLst>
          </p:cNvPr>
          <p:cNvSpPr/>
          <p:nvPr/>
        </p:nvSpPr>
        <p:spPr>
          <a:xfrm>
            <a:off x="2509395" y="7284335"/>
            <a:ext cx="102098" cy="1566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688A8254-E888-73F8-F889-D9019059D1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240811"/>
              </p:ext>
            </p:extLst>
          </p:nvPr>
        </p:nvGraphicFramePr>
        <p:xfrm>
          <a:off x="589162" y="4709184"/>
          <a:ext cx="3369567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3565">
                  <a:extLst>
                    <a:ext uri="{9D8B030D-6E8A-4147-A177-3AD203B41FA5}">
                      <a16:colId xmlns:a16="http://schemas.microsoft.com/office/drawing/2014/main" val="4016697823"/>
                    </a:ext>
                  </a:extLst>
                </a:gridCol>
                <a:gridCol w="1147312">
                  <a:extLst>
                    <a:ext uri="{9D8B030D-6E8A-4147-A177-3AD203B41FA5}">
                      <a16:colId xmlns:a16="http://schemas.microsoft.com/office/drawing/2014/main" val="3704371893"/>
                    </a:ext>
                  </a:extLst>
                </a:gridCol>
                <a:gridCol w="1258690">
                  <a:extLst>
                    <a:ext uri="{9D8B030D-6E8A-4147-A177-3AD203B41FA5}">
                      <a16:colId xmlns:a16="http://schemas.microsoft.com/office/drawing/2014/main" val="1342163873"/>
                    </a:ext>
                  </a:extLst>
                </a:gridCol>
              </a:tblGrid>
              <a:tr h="259841"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EA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 Asthma 52 (69%)</a:t>
                      </a:r>
                    </a:p>
                  </a:txBody>
                  <a:tcPr>
                    <a:solidFill>
                      <a:srgbClr val="FFEA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Severe Asthma 59 (66%)</a:t>
                      </a:r>
                    </a:p>
                  </a:txBody>
                  <a:tcPr>
                    <a:solidFill>
                      <a:srgbClr val="FFEA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167092"/>
                  </a:ext>
                </a:extLst>
              </a:tr>
              <a:tr h="259841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Quiet</a:t>
                      </a:r>
                    </a:p>
                  </a:txBody>
                  <a:tcPr>
                    <a:solidFill>
                      <a:srgbClr val="FFEA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</a:t>
                      </a:r>
                    </a:p>
                  </a:txBody>
                  <a:tcPr>
                    <a:solidFill>
                      <a:srgbClr val="FFEA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193</a:t>
                      </a:r>
                    </a:p>
                  </a:txBody>
                  <a:tcPr>
                    <a:solidFill>
                      <a:srgbClr val="FFEA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201529"/>
                  </a:ext>
                </a:extLst>
              </a:tr>
              <a:tr h="259841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Exacer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488112"/>
                  </a:ext>
                </a:extLst>
              </a:tr>
              <a:tr h="259841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Followup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127049"/>
                  </a:ext>
                </a:extLst>
              </a:tr>
            </a:tbl>
          </a:graphicData>
        </a:graphic>
      </p:graphicFrame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D5999FC-99DF-B8AD-0EBA-33DF6FBFBB86}"/>
              </a:ext>
            </a:extLst>
          </p:cNvPr>
          <p:cNvSpPr/>
          <p:nvPr/>
        </p:nvSpPr>
        <p:spPr>
          <a:xfrm>
            <a:off x="10528419" y="6264429"/>
            <a:ext cx="1283156" cy="24105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PLSDA models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AF25D86-F0A0-D026-E758-77944753D727}"/>
              </a:ext>
            </a:extLst>
          </p:cNvPr>
          <p:cNvSpPr/>
          <p:nvPr/>
        </p:nvSpPr>
        <p:spPr>
          <a:xfrm>
            <a:off x="8760928" y="6259938"/>
            <a:ext cx="1283156" cy="241055"/>
          </a:xfrm>
          <a:prstGeom prst="roundRect">
            <a:avLst/>
          </a:prstGeom>
          <a:solidFill>
            <a:srgbClr val="FBBFDE"/>
          </a:solidFill>
          <a:ln>
            <a:solidFill>
              <a:srgbClr val="6D00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PLSDA models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F1E3A1A-CAE8-E010-65B8-66317F4DA7CB}"/>
              </a:ext>
            </a:extLst>
          </p:cNvPr>
          <p:cNvSpPr/>
          <p:nvPr/>
        </p:nvSpPr>
        <p:spPr>
          <a:xfrm>
            <a:off x="7480768" y="6264800"/>
            <a:ext cx="1283156" cy="24105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PLSDA models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864277C-9664-3602-42DB-6ABA8BF98F64}"/>
              </a:ext>
            </a:extLst>
          </p:cNvPr>
          <p:cNvSpPr/>
          <p:nvPr/>
        </p:nvSpPr>
        <p:spPr>
          <a:xfrm>
            <a:off x="5618739" y="6254877"/>
            <a:ext cx="1283156" cy="2410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PLSDA models</a:t>
            </a:r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DC267FF6-A315-61AD-C539-8630E4C1A751}"/>
              </a:ext>
            </a:extLst>
          </p:cNvPr>
          <p:cNvSpPr/>
          <p:nvPr/>
        </p:nvSpPr>
        <p:spPr>
          <a:xfrm>
            <a:off x="2509395" y="6241886"/>
            <a:ext cx="102098" cy="1566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Down Arrow 27">
            <a:extLst>
              <a:ext uri="{FF2B5EF4-FFF2-40B4-BE49-F238E27FC236}">
                <a16:creationId xmlns:a16="http://schemas.microsoft.com/office/drawing/2014/main" id="{591ABC38-B7D4-D689-5AC5-AA023D7BAB79}"/>
              </a:ext>
            </a:extLst>
          </p:cNvPr>
          <p:cNvSpPr/>
          <p:nvPr/>
        </p:nvSpPr>
        <p:spPr>
          <a:xfrm>
            <a:off x="6241969" y="5937223"/>
            <a:ext cx="102098" cy="1566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Down Arrow 28">
            <a:extLst>
              <a:ext uri="{FF2B5EF4-FFF2-40B4-BE49-F238E27FC236}">
                <a16:creationId xmlns:a16="http://schemas.microsoft.com/office/drawing/2014/main" id="{D7B5E874-25C8-DD5C-B07F-E0DFC6D2226C}"/>
              </a:ext>
            </a:extLst>
          </p:cNvPr>
          <p:cNvSpPr/>
          <p:nvPr/>
        </p:nvSpPr>
        <p:spPr>
          <a:xfrm>
            <a:off x="8070053" y="5943035"/>
            <a:ext cx="102098" cy="1566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Down Arrow 29">
            <a:extLst>
              <a:ext uri="{FF2B5EF4-FFF2-40B4-BE49-F238E27FC236}">
                <a16:creationId xmlns:a16="http://schemas.microsoft.com/office/drawing/2014/main" id="{05977A81-C06B-7B0E-9759-3D3288749A3F}"/>
              </a:ext>
            </a:extLst>
          </p:cNvPr>
          <p:cNvSpPr/>
          <p:nvPr/>
        </p:nvSpPr>
        <p:spPr>
          <a:xfrm>
            <a:off x="9318320" y="5942662"/>
            <a:ext cx="102098" cy="1566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Down Arrow 30">
            <a:extLst>
              <a:ext uri="{FF2B5EF4-FFF2-40B4-BE49-F238E27FC236}">
                <a16:creationId xmlns:a16="http://schemas.microsoft.com/office/drawing/2014/main" id="{E3E8F843-5EEC-B77F-9346-D2EF2AB80C80}"/>
              </a:ext>
            </a:extLst>
          </p:cNvPr>
          <p:cNvSpPr/>
          <p:nvPr/>
        </p:nvSpPr>
        <p:spPr>
          <a:xfrm>
            <a:off x="11056860" y="5942664"/>
            <a:ext cx="102098" cy="1566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5BCD5B2-3A07-8B37-A9CC-BE44D16F5B88}"/>
              </a:ext>
            </a:extLst>
          </p:cNvPr>
          <p:cNvSpPr/>
          <p:nvPr/>
        </p:nvSpPr>
        <p:spPr>
          <a:xfrm>
            <a:off x="1916086" y="6907755"/>
            <a:ext cx="1283156" cy="24105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 x 5-fold CV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F03EED04-D4C4-4C54-4989-75A6CEABEF7C}"/>
              </a:ext>
            </a:extLst>
          </p:cNvPr>
          <p:cNvSpPr/>
          <p:nvPr/>
        </p:nvSpPr>
        <p:spPr>
          <a:xfrm>
            <a:off x="5618739" y="6723623"/>
            <a:ext cx="1283156" cy="2410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 x 5-fold CV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46546AA-DED4-3084-783F-7C2E56B14C62}"/>
              </a:ext>
            </a:extLst>
          </p:cNvPr>
          <p:cNvSpPr/>
          <p:nvPr/>
        </p:nvSpPr>
        <p:spPr>
          <a:xfrm>
            <a:off x="7480768" y="6731136"/>
            <a:ext cx="1283156" cy="24105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 x 5-fold CV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EB84EAF-05B9-0877-3E03-31A25E5F68B1}"/>
              </a:ext>
            </a:extLst>
          </p:cNvPr>
          <p:cNvSpPr/>
          <p:nvPr/>
        </p:nvSpPr>
        <p:spPr>
          <a:xfrm>
            <a:off x="8760928" y="6730023"/>
            <a:ext cx="1283156" cy="241055"/>
          </a:xfrm>
          <a:prstGeom prst="roundRect">
            <a:avLst/>
          </a:prstGeom>
          <a:solidFill>
            <a:srgbClr val="FBBFDE"/>
          </a:solidFill>
          <a:ln>
            <a:solidFill>
              <a:srgbClr val="6D00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 x 5-fold CV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21291A99-6DEB-6A98-D103-E212AE41D668}"/>
              </a:ext>
            </a:extLst>
          </p:cNvPr>
          <p:cNvSpPr/>
          <p:nvPr/>
        </p:nvSpPr>
        <p:spPr>
          <a:xfrm>
            <a:off x="10528419" y="6734513"/>
            <a:ext cx="1283156" cy="24105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 x 5-fold CV</a:t>
            </a:r>
          </a:p>
        </p:txBody>
      </p:sp>
      <p:sp>
        <p:nvSpPr>
          <p:cNvPr id="37" name="Down Arrow 36">
            <a:extLst>
              <a:ext uri="{FF2B5EF4-FFF2-40B4-BE49-F238E27FC236}">
                <a16:creationId xmlns:a16="http://schemas.microsoft.com/office/drawing/2014/main" id="{F685BA5A-29C5-E981-646C-C14E7DE9573C}"/>
              </a:ext>
            </a:extLst>
          </p:cNvPr>
          <p:cNvSpPr/>
          <p:nvPr/>
        </p:nvSpPr>
        <p:spPr>
          <a:xfrm>
            <a:off x="6236435" y="7102986"/>
            <a:ext cx="102098" cy="1566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Down Arrow 37">
            <a:extLst>
              <a:ext uri="{FF2B5EF4-FFF2-40B4-BE49-F238E27FC236}">
                <a16:creationId xmlns:a16="http://schemas.microsoft.com/office/drawing/2014/main" id="{74EE98D2-826C-9C13-7F8F-BFAC8062752F}"/>
              </a:ext>
            </a:extLst>
          </p:cNvPr>
          <p:cNvSpPr/>
          <p:nvPr/>
        </p:nvSpPr>
        <p:spPr>
          <a:xfrm>
            <a:off x="8062557" y="7113139"/>
            <a:ext cx="102098" cy="1566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Down Arrow 38">
            <a:extLst>
              <a:ext uri="{FF2B5EF4-FFF2-40B4-BE49-F238E27FC236}">
                <a16:creationId xmlns:a16="http://schemas.microsoft.com/office/drawing/2014/main" id="{8FFBDF80-74B2-BDD1-01A9-01C95E257178}"/>
              </a:ext>
            </a:extLst>
          </p:cNvPr>
          <p:cNvSpPr/>
          <p:nvPr/>
        </p:nvSpPr>
        <p:spPr>
          <a:xfrm>
            <a:off x="9320501" y="7106628"/>
            <a:ext cx="102098" cy="1566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Down Arrow 39">
            <a:extLst>
              <a:ext uri="{FF2B5EF4-FFF2-40B4-BE49-F238E27FC236}">
                <a16:creationId xmlns:a16="http://schemas.microsoft.com/office/drawing/2014/main" id="{6BB15D80-A725-E73B-6426-DF1FC51336A7}"/>
              </a:ext>
            </a:extLst>
          </p:cNvPr>
          <p:cNvSpPr/>
          <p:nvPr/>
        </p:nvSpPr>
        <p:spPr>
          <a:xfrm>
            <a:off x="11066476" y="7112768"/>
            <a:ext cx="102098" cy="1566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9318A51-0B4E-F813-D65F-BB8A92480D3C}"/>
              </a:ext>
            </a:extLst>
          </p:cNvPr>
          <p:cNvSpPr/>
          <p:nvPr/>
        </p:nvSpPr>
        <p:spPr>
          <a:xfrm>
            <a:off x="1916086" y="7627459"/>
            <a:ext cx="1283156" cy="24105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AUCs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9074D1B2-0721-DCC3-9802-005F44D7308A}"/>
              </a:ext>
            </a:extLst>
          </p:cNvPr>
          <p:cNvSpPr/>
          <p:nvPr/>
        </p:nvSpPr>
        <p:spPr>
          <a:xfrm>
            <a:off x="5616838" y="7443327"/>
            <a:ext cx="1283156" cy="2410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AUCs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68AA203B-0BBB-CA8A-9E86-A7C5178F1D0E}"/>
              </a:ext>
            </a:extLst>
          </p:cNvPr>
          <p:cNvSpPr/>
          <p:nvPr/>
        </p:nvSpPr>
        <p:spPr>
          <a:xfrm>
            <a:off x="7480768" y="7453250"/>
            <a:ext cx="1283156" cy="24105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AUCs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23E7830B-48BA-ACAA-8D98-D01DBFEABC20}"/>
              </a:ext>
            </a:extLst>
          </p:cNvPr>
          <p:cNvSpPr/>
          <p:nvPr/>
        </p:nvSpPr>
        <p:spPr>
          <a:xfrm>
            <a:off x="8760928" y="7452138"/>
            <a:ext cx="1283156" cy="241055"/>
          </a:xfrm>
          <a:prstGeom prst="roundRect">
            <a:avLst/>
          </a:prstGeom>
          <a:solidFill>
            <a:srgbClr val="FBBFDE"/>
          </a:solidFill>
          <a:ln>
            <a:solidFill>
              <a:srgbClr val="6D00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AUCs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17E076E7-A9DD-7609-96A6-A85A9817435D}"/>
              </a:ext>
            </a:extLst>
          </p:cNvPr>
          <p:cNvSpPr/>
          <p:nvPr/>
        </p:nvSpPr>
        <p:spPr>
          <a:xfrm>
            <a:off x="10528419" y="7456629"/>
            <a:ext cx="1283156" cy="24105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AUCs</a:t>
            </a:r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9D3CCD02-02D8-A892-ADFD-EF19FD696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251902"/>
              </p:ext>
            </p:extLst>
          </p:nvPr>
        </p:nvGraphicFramePr>
        <p:xfrm>
          <a:off x="3974057" y="4938594"/>
          <a:ext cx="82366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7983">
                  <a:extLst>
                    <a:ext uri="{9D8B030D-6E8A-4147-A177-3AD203B41FA5}">
                      <a16:colId xmlns:a16="http://schemas.microsoft.com/office/drawing/2014/main" val="331557155"/>
                    </a:ext>
                  </a:extLst>
                </a:gridCol>
                <a:gridCol w="2250831">
                  <a:extLst>
                    <a:ext uri="{9D8B030D-6E8A-4147-A177-3AD203B41FA5}">
                      <a16:colId xmlns:a16="http://schemas.microsoft.com/office/drawing/2014/main" val="4069311689"/>
                    </a:ext>
                  </a:extLst>
                </a:gridCol>
                <a:gridCol w="1252025">
                  <a:extLst>
                    <a:ext uri="{9D8B030D-6E8A-4147-A177-3AD203B41FA5}">
                      <a16:colId xmlns:a16="http://schemas.microsoft.com/office/drawing/2014/main" val="101031861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3348547874"/>
                    </a:ext>
                  </a:extLst>
                </a:gridCol>
                <a:gridCol w="2175661">
                  <a:extLst>
                    <a:ext uri="{9D8B030D-6E8A-4147-A177-3AD203B41FA5}">
                      <a16:colId xmlns:a16="http://schemas.microsoft.com/office/drawing/2014/main" val="100452145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 (66%)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 (42%)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 (39%)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 (45%)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5626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 Asthma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 (78%)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 (57%)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 (48%)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 (58%)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37953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Sev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Asthma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 (63%)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 (54%)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334 (61%)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109 (59%)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154801"/>
                  </a:ext>
                </a:extLst>
              </a:tr>
            </a:tbl>
          </a:graphicData>
        </a:graphic>
      </p:graphicFrame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A381F17-833F-84AC-32ED-A447BE449C8B}"/>
              </a:ext>
            </a:extLst>
          </p:cNvPr>
          <p:cNvSpPr>
            <a:spLocks/>
          </p:cNvSpPr>
          <p:nvPr/>
        </p:nvSpPr>
        <p:spPr>
          <a:xfrm>
            <a:off x="901117" y="740477"/>
            <a:ext cx="1280160" cy="752765"/>
          </a:xfrm>
          <a:prstGeom prst="roundRect">
            <a:avLst/>
          </a:prstGeom>
          <a:solidFill>
            <a:srgbClr val="FBBFDE"/>
          </a:solidFill>
          <a:ln>
            <a:solidFill>
              <a:srgbClr val="6D00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Blood samples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93100FE-F7E7-B2B9-DEF7-D62747012279}"/>
              </a:ext>
            </a:extLst>
          </p:cNvPr>
          <p:cNvSpPr/>
          <p:nvPr/>
        </p:nvSpPr>
        <p:spPr>
          <a:xfrm>
            <a:off x="898121" y="1915725"/>
            <a:ext cx="1283156" cy="24105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sPLSDA</a:t>
            </a:r>
            <a:r>
              <a:rPr lang="en-US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9239983-719E-1466-4F99-575EBCA2BE89}"/>
              </a:ext>
            </a:extLst>
          </p:cNvPr>
          <p:cNvSpPr/>
          <p:nvPr/>
        </p:nvSpPr>
        <p:spPr>
          <a:xfrm>
            <a:off x="898121" y="2384471"/>
            <a:ext cx="1283156" cy="24105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 </a:t>
            </a:r>
            <a:r>
              <a:rPr lang="en-US" sz="120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5-fold </a:t>
            </a:r>
            <a:r>
              <a:rPr lang="en-US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A965A3A-104E-8342-22D0-EF613243D5E5}"/>
              </a:ext>
            </a:extLst>
          </p:cNvPr>
          <p:cNvSpPr/>
          <p:nvPr/>
        </p:nvSpPr>
        <p:spPr>
          <a:xfrm>
            <a:off x="898121" y="3104175"/>
            <a:ext cx="1283156" cy="24105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AUCs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13F960-FFF0-466D-9F0F-EDE420B0A932}"/>
              </a:ext>
            </a:extLst>
          </p:cNvPr>
          <p:cNvSpPr txBox="1"/>
          <p:nvPr/>
        </p:nvSpPr>
        <p:spPr>
          <a:xfrm>
            <a:off x="2054415" y="808047"/>
            <a:ext cx="2808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PanCancer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Immune profiling panel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245E45B-781E-A124-1333-B75D4CFD0DCB}"/>
              </a:ext>
            </a:extLst>
          </p:cNvPr>
          <p:cNvSpPr txBox="1"/>
          <p:nvPr/>
        </p:nvSpPr>
        <p:spPr>
          <a:xfrm>
            <a:off x="10404891" y="630352"/>
            <a:ext cx="2063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Allergen challenge blood datasets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99948BA-A011-6EAD-A5DE-ED70612CA65D}"/>
              </a:ext>
            </a:extLst>
          </p:cNvPr>
          <p:cNvSpPr txBox="1"/>
          <p:nvPr/>
        </p:nvSpPr>
        <p:spPr>
          <a:xfrm>
            <a:off x="9727411" y="3604298"/>
            <a:ext cx="26218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asthma datasets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76602B95-A814-9D9B-B3C1-C4CA5C8E98FE}"/>
              </a:ext>
            </a:extLst>
          </p:cNvPr>
          <p:cNvSpPr/>
          <p:nvPr/>
        </p:nvSpPr>
        <p:spPr>
          <a:xfrm>
            <a:off x="2557664" y="1895504"/>
            <a:ext cx="2133328" cy="34925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PanCancer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mRNA panel 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A443E191-ABAA-7891-D6B4-DC142E9E7E19}"/>
              </a:ext>
            </a:extLst>
          </p:cNvPr>
          <p:cNvSpPr/>
          <p:nvPr/>
        </p:nvSpPr>
        <p:spPr>
          <a:xfrm>
            <a:off x="6775329" y="811888"/>
            <a:ext cx="2133328" cy="34925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Trinity mRNA panel 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1A9D3F26-F564-4265-2D68-80BC3D042693}"/>
              </a:ext>
            </a:extLst>
          </p:cNvPr>
          <p:cNvSpPr/>
          <p:nvPr/>
        </p:nvSpPr>
        <p:spPr>
          <a:xfrm>
            <a:off x="6775329" y="1498845"/>
            <a:ext cx="2133328" cy="34925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UCSC mRNA panel 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8D1799CD-D487-059F-6C3A-9B3E82883760}"/>
              </a:ext>
            </a:extLst>
          </p:cNvPr>
          <p:cNvSpPr/>
          <p:nvPr/>
        </p:nvSpPr>
        <p:spPr>
          <a:xfrm>
            <a:off x="6767681" y="2833707"/>
            <a:ext cx="2133328" cy="34925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Ensembl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panel 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088C3885-D607-4B5B-2691-5BD0B09C97A7}"/>
              </a:ext>
            </a:extLst>
          </p:cNvPr>
          <p:cNvSpPr/>
          <p:nvPr/>
        </p:nvSpPr>
        <p:spPr>
          <a:xfrm>
            <a:off x="6767681" y="2182259"/>
            <a:ext cx="2133328" cy="34925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UCSC_isoforms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panel 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B7955E13-3387-5361-CB97-1854E7CCD5D9}"/>
              </a:ext>
            </a:extLst>
          </p:cNvPr>
          <p:cNvSpPr/>
          <p:nvPr/>
        </p:nvSpPr>
        <p:spPr>
          <a:xfrm>
            <a:off x="9488763" y="1588179"/>
            <a:ext cx="2423567" cy="9433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 mRNA panels</a:t>
            </a:r>
            <a:r>
              <a:rPr lang="en-US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</p:txBody>
      </p:sp>
      <p:sp>
        <p:nvSpPr>
          <p:cNvPr id="75" name="Down Arrow 74">
            <a:extLst>
              <a:ext uri="{FF2B5EF4-FFF2-40B4-BE49-F238E27FC236}">
                <a16:creationId xmlns:a16="http://schemas.microsoft.com/office/drawing/2014/main" id="{072FF5D9-ADBC-99A1-E395-4ECDCCD200F6}"/>
              </a:ext>
            </a:extLst>
          </p:cNvPr>
          <p:cNvSpPr/>
          <p:nvPr/>
        </p:nvSpPr>
        <p:spPr>
          <a:xfrm rot="16200000">
            <a:off x="2309615" y="1965427"/>
            <a:ext cx="156863" cy="16350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Down Arrow 75">
            <a:extLst>
              <a:ext uri="{FF2B5EF4-FFF2-40B4-BE49-F238E27FC236}">
                <a16:creationId xmlns:a16="http://schemas.microsoft.com/office/drawing/2014/main" id="{6467475B-33AF-84CC-CD08-7D9037A3213A}"/>
              </a:ext>
            </a:extLst>
          </p:cNvPr>
          <p:cNvSpPr/>
          <p:nvPr/>
        </p:nvSpPr>
        <p:spPr>
          <a:xfrm>
            <a:off x="1434672" y="1588179"/>
            <a:ext cx="176679" cy="2498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Down Arrow 76">
            <a:extLst>
              <a:ext uri="{FF2B5EF4-FFF2-40B4-BE49-F238E27FC236}">
                <a16:creationId xmlns:a16="http://schemas.microsoft.com/office/drawing/2014/main" id="{96131B3C-BA8A-ED31-8283-22F8F3DC38B1}"/>
              </a:ext>
            </a:extLst>
          </p:cNvPr>
          <p:cNvSpPr/>
          <p:nvPr/>
        </p:nvSpPr>
        <p:spPr>
          <a:xfrm>
            <a:off x="1456406" y="2724609"/>
            <a:ext cx="145258" cy="2498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8FE9AE1B-9287-1D34-EECB-64D6AE695466}"/>
              </a:ext>
            </a:extLst>
          </p:cNvPr>
          <p:cNvCxnSpPr>
            <a:cxnSpLocks/>
            <a:stCxn id="69" idx="1"/>
          </p:cNvCxnSpPr>
          <p:nvPr/>
        </p:nvCxnSpPr>
        <p:spPr>
          <a:xfrm rot="10800000" flipV="1">
            <a:off x="6056747" y="986514"/>
            <a:ext cx="718582" cy="222527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80">
            <a:extLst>
              <a:ext uri="{FF2B5EF4-FFF2-40B4-BE49-F238E27FC236}">
                <a16:creationId xmlns:a16="http://schemas.microsoft.com/office/drawing/2014/main" id="{09AD8C9C-1335-FC40-FCB2-0661DC0534B4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4690992" y="2070134"/>
            <a:ext cx="713673" cy="113307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89430A0F-872D-BDA9-D847-4E9276D5D0CE}"/>
              </a:ext>
            </a:extLst>
          </p:cNvPr>
          <p:cNvCxnSpPr>
            <a:cxnSpLocks/>
            <a:stCxn id="70" idx="1"/>
          </p:cNvCxnSpPr>
          <p:nvPr/>
        </p:nvCxnSpPr>
        <p:spPr>
          <a:xfrm rot="10800000" flipV="1">
            <a:off x="6056747" y="1673474"/>
            <a:ext cx="718582" cy="153831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0735C333-0B13-6B08-B2B3-52ED069B9988}"/>
              </a:ext>
            </a:extLst>
          </p:cNvPr>
          <p:cNvCxnSpPr>
            <a:cxnSpLocks/>
            <a:stCxn id="72" idx="1"/>
          </p:cNvCxnSpPr>
          <p:nvPr/>
        </p:nvCxnSpPr>
        <p:spPr>
          <a:xfrm rot="10800000" flipV="1">
            <a:off x="6056747" y="2356888"/>
            <a:ext cx="710934" cy="85489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Elbow Connector 86">
            <a:extLst>
              <a:ext uri="{FF2B5EF4-FFF2-40B4-BE49-F238E27FC236}">
                <a16:creationId xmlns:a16="http://schemas.microsoft.com/office/drawing/2014/main" id="{A257AFBD-A753-68C3-3B5E-9A6892797C03}"/>
              </a:ext>
            </a:extLst>
          </p:cNvPr>
          <p:cNvCxnSpPr>
            <a:cxnSpLocks/>
            <a:stCxn id="71" idx="1"/>
          </p:cNvCxnSpPr>
          <p:nvPr/>
        </p:nvCxnSpPr>
        <p:spPr>
          <a:xfrm rot="10800000" flipV="1">
            <a:off x="6056747" y="3008336"/>
            <a:ext cx="710934" cy="20345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Down Arrow 89">
            <a:extLst>
              <a:ext uri="{FF2B5EF4-FFF2-40B4-BE49-F238E27FC236}">
                <a16:creationId xmlns:a16="http://schemas.microsoft.com/office/drawing/2014/main" id="{CD42981B-6F03-21F0-57EF-5E8503DC8FE7}"/>
              </a:ext>
            </a:extLst>
          </p:cNvPr>
          <p:cNvSpPr/>
          <p:nvPr/>
        </p:nvSpPr>
        <p:spPr>
          <a:xfrm rot="5400000">
            <a:off x="9120979" y="1926962"/>
            <a:ext cx="176679" cy="2498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9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235</Words>
  <Application>Microsoft Macintosh PowerPoint</Application>
  <PresentationFormat>Custom</PresentationFormat>
  <Paragraphs>67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zhmm@student.ubc.ca</dc:creator>
  <cp:lastModifiedBy>Amrit Singh</cp:lastModifiedBy>
  <cp:revision>15</cp:revision>
  <dcterms:created xsi:type="dcterms:W3CDTF">2025-02-04T17:29:35Z</dcterms:created>
  <dcterms:modified xsi:type="dcterms:W3CDTF">2025-05-30T06:12:08Z</dcterms:modified>
</cp:coreProperties>
</file>